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5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97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SUGAR-SWEETENED BEVERAGE TAXES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reduce the burden of disease?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cross-country study covering 2000 to 2023, when countries adopted the tax at different times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85807" y="6187440"/>
            <a:ext cx="52104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</a:t>
            </a:r>
            <a:r>
              <a:rPr lang="en-US" sz="1200" i="1" dirty="0" err="1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M.Tavella</a:t>
            </a:r>
            <a:r>
              <a:rPr lang="en-US" sz="1200" i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mat. 712246</a:t>
            </a:r>
          </a:p>
          <a:p>
            <a:pPr marL="0" indent="0" algn="r">
              <a:buNone/>
            </a:pPr>
            <a:r>
              <a:rPr lang="en-US" sz="1200" i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R.Miniaci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CE1FC5-DD59-97B3-DA7E-5B8891A88A18}"/>
              </a:ext>
            </a:extLst>
          </p:cNvPr>
          <p:cNvSpPr/>
          <p:nvPr/>
        </p:nvSpPr>
        <p:spPr>
          <a:xfrm>
            <a:off x="975360" y="6187440"/>
            <a:ext cx="52104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project – Causal inference and impact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health problem, a common policy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body mass index (BMI) is one of the biggest health risks in the world today, and it is something people can change.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Sugar-sweetened beverages (SSBs) are one of the easiest targets for a health tax.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2000, over 80 countries have taxed SSBs. Because they did not all do it at the same time, we can compare them and estimate the tax's effect.</a:t>
            </a:r>
            <a:endParaRPr lang="en-US" sz="1500" dirty="0"/>
          </a:p>
        </p:txBody>
      </p:sp>
      <p:pic>
        <p:nvPicPr>
          <p:cNvPr id="5" name="Image 0" descr="/home/claude/sens_py/chart_adoption_timeline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51014"/>
            <a:ext cx="5303520" cy="2778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Global SSB Tax Database.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know, and what is missing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Colchero et al. (2017); Teng et al. (2019)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Mexico, people still bought fewer sugary drinks two years after the tax started. A review of many countries found the same average effect on purchases.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3547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Stacey et al. (2021); Cobiac et al. (2024)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Africa: beverage purchases dropped sharply after the tax. UK: a simulation model predicts a large drop in childhood overweight.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8680" y="51937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and the closest match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studies check whether lower consumption actually improves health outcomes across many countries. The closest match (Villani et al., 2024; 43 countries) finds mixed, mostly non-significant results, like we do.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44287A"/>
          </a:solidFill>
          <a:ln w="12700">
            <a:solidFill>
              <a:srgbClr val="E4DC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60120" y="1444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810512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national tax on sugar-sweetened beverages reduce the population's burden of disease from high BMI?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effect reach type 2 diabetes as well?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depend on how the tax is designed (fixed amount vs. percentage of price, tiered or not)?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country's own sugar production change the effect, for example through lobbying or substitution?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standard TWFE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staggered adoption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countries adopt a tax at different times, the standard two-way fixed effects (TWFE) model compares already-treated countries to newly-treated ones, and some of these comparisons get negative weight.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tax's effect builds up over time (likely here), TWFE gives a biased result.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Goodman-Bacon (2021), Journal of Econometrics.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37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Callaway-Sant'Anna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separate effect for each group of countries that adopted in the same year, for each time period, using a doubly-robust approach.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group to countries that never adopted the tax, then combines everything into one overall effect and an event-study graph.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Callaway &amp; Sant'Anna (2021), Journal of Econometrics.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written 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TWFE (robustness check)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α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λ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β·SSBtax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X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′γ + ε</a:t>
            </a:r>
            <a:r>
              <a:rPr lang="en-US" sz="120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BMI DALYs rate; αi, λt = country and year fixed effects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Xit = log GDP p.c., school enrollment, log sugar production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OLS with two fixed effects, SE clustered by country</a:t>
            </a:r>
            <a:endParaRPr lang="en-US" sz="135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one common effect for all countries - biased under staggered adoption (Goodman-Bacon, 2021)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37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Callaway &amp; Sant'Anna (2021)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ATT(g,t) = E[Y</a:t>
            </a:r>
            <a:r>
              <a:rPr lang="en-US" sz="120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Y</a:t>
            </a:r>
            <a:r>
              <a:rPr lang="en-US" sz="120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g−1</a:t>
            </a: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G=g] - E[Y</a:t>
            </a:r>
            <a:r>
              <a:rPr lang="en-US" sz="120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Y</a:t>
            </a:r>
            <a:r>
              <a:rPr lang="en-US" sz="120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g−1</a:t>
            </a: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C]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year a country first adopts the tax (its cohort); C = never-treated group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separately for every (g,t) pair, doubly robust (doubly robust, inverse probability weighted): outcome regression + propensity score model of adoption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if at least one of the two models is correctly specified</a:t>
            </a:r>
            <a:endParaRPr lang="en-US" sz="135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into one overall ATT (estat simple) and an event-study ATT(e), e = t−g (estat event)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threats, and how we handle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0FA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countries that do not change over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0" y="16916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with country fixed effects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that hit all countries the same year (2008 crisis, pandemic)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0" y="2715768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with year fixed effects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0FA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8680" y="373989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or more educated countries adopting first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0" y="373989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for GDP per capita and school enrollment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6402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68680" y="4764024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causality (rising obesity pushing faster adoption)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0" y="4764024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Checked: pre-trends are flat and not significant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9253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assumption: without the tax, treated and never-treated countries would follow the same trend. We can only test this before the tax starts (Pre_avg = -2.29; p=0.663 for BMI DALYs).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one key: ISO3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SSB Tax Database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taxes started, how they are designed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456432" y="181051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IHME GBD 2023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56432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DALYs, diabetes rates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199632" y="181051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99632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capita, school enrollment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942832" y="181051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42832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production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merge everything using each country's ISO3 code, never the country name - different sources spell names differently, which causes silent errors.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432511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" y="55138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in the panel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4160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291840" y="432511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29000" y="55138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(2000-2023)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4160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035040" y="432511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79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72200" y="55138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/ never-treated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78240" y="4160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778240" y="432511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3,840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15400" y="55138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country-year observations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881360" cy="26517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SD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BMI DALYs rate (per 100,000)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3,840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2,189.3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1,573.8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288.2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12,756.4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Diabetes prevalence (per 100,000)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3,840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6,452.3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3,548.8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1,699.4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22,875.4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GDP per capita, PPP ($)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3,540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19,235.5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23,463.3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404.0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180,939.4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Secondary school enrollment (%)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2,503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78.4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30.8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3.4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164.1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Sugar production (tonnes)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3,840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7,071,394.8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30,221,263.9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490,533,351.1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Country-year sample, 2000-2023. GDP and school enrollment are not fully covered by the World Bank. We computed these numbers in Stata and rebuilt the chart in Python.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difference between the two groups</a:t>
            </a:r>
            <a:endParaRPr lang="en-US" sz="2800" dirty="0"/>
          </a:p>
        </p:txBody>
      </p:sp>
      <p:pic>
        <p:nvPicPr>
          <p:cNvPr id="4" name="Image 0" descr="/home/claude/sens_py/chart_dist_bmi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643" y="1554480"/>
            <a:ext cx="7298235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estimate: no effect we can detect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3383280" cy="12412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834765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BMI DALYs (per 100,000)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21945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14800" y="2359152"/>
            <a:ext cx="3383280" cy="12412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0.280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51960" y="3834765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219456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680960" y="2359152"/>
            <a:ext cx="3749040" cy="12412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2,226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18120" y="3831173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 the estimation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shows the full event-study graph behind this number: pre-trends by year before adoption, and the effect by year after adoption.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picture: effect by year, before and after</a:t>
            </a:r>
            <a:endParaRPr lang="en-US" sz="2800" dirty="0"/>
          </a:p>
        </p:txBody>
      </p:sp>
      <p:pic>
        <p:nvPicPr>
          <p:cNvPr id="4" name="Image 0" descr="/home/claude/sens_py/chart_event_study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268" y="1508760"/>
            <a:ext cx="7882983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checks: the result barely moves</a:t>
            </a:r>
            <a:endParaRPr lang="en-US" sz="2800" dirty="0"/>
          </a:p>
        </p:txBody>
      </p:sp>
      <p:pic>
        <p:nvPicPr>
          <p:cNvPr id="4" name="Image 0" descr="/home/claude/sens_py/chart_forest_bmi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29" y="1508760"/>
            <a:ext cx="7420062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tax design matter? There is not a clear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structure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csdid and TWFE do not even agree on the direction of the effect (Specific vs Ad valorem). The difference is not statistically significant (p=0.378).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27832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status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5818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Tiered=1 comes closer to significance (p=0.073) than Tiered=0, but the difference between the two is not significant (p=0.708).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64024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8680" y="490118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production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529437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interaction with TWFE gives -1.96 (SE 5.40; p=0.717): no significant effect.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instrument: two equations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regional diffusion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spatial_diff</a:t>
            </a:r>
            <a:r>
              <a:rPr lang="en-US" sz="105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i,t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</a:t>
            </a:r>
            <a:r>
              <a:rPr lang="en-US" sz="105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j≠i, region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SSBtax</a:t>
            </a:r>
            <a:r>
              <a:rPr lang="en-US" sz="105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j,t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(N</a:t>
            </a:r>
            <a:r>
              <a:rPr lang="en-US" sz="1050" b="1" baseline="-25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region,t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− 1)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OTHER countries in i's UN region that had already adopted the tax by year t (own status excluded, leave-one-out)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regional policy diffusion (imitation between neighboring governments) as a source of variation in adoption, in principle unrelated to a country's own BMI trend</a:t>
            </a:r>
            <a:endParaRPr lang="en-US" sz="135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panel_master + a UN-region crosswalk (kountry); not the formal first stage of a 2SLS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3796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regressions to test 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Relevance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SSBtax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π·spatial_diff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α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λ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u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3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&gt; 0 and significant → the instrument predicts a country's own adoption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Exclusion (falsification)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ρ·spatial_diff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X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′γ + α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λ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η</a:t>
            </a:r>
            <a:r>
              <a:rPr lang="en-US" sz="1050" b="1" baseline="-25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35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only on never-treated units (SSBtax≡0). ρ ≈ 0 expected if valid; ρ significant → exclusion restriction violated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an instrument: does it hold up?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leave-one-out instrument: the share of other countries in the same UN region that already tax SSBs. We use it only as a check, not as our main estimate.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stage: strong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0.52 (p=0.008)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diffusion predicts a country's own adoption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9DE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537960" y="2487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test: fails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706.6 (p=0.001)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predicts BMI DALYs among the 69 countries that NEVER adopted the tax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instrument is picking up shared regional trends (diet, economic development), not just policy diffusion. That is why we do not use it for a formal 2SLS estimate.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sample choice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1EAFB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0" y="18288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= 34.45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0" y="182880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0.280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68680" y="3035808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USA / Canada / Micronesia as never-treated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3035808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= 34.79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0" y="3035808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0.276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4281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68680" y="424281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countries that adopted before 2000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4242816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= 34.45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4242816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0.280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54126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removing these countries barely changes the estimate: csdid already treats them as “always treated” and ignores them.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null result, not a data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we can distinguish from zero, on BMI DALYs or on diabetes prevalence.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design is solid: flat pre-trends, and the result barely changes across different reasonable samples.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 mainly reflects a power problem: few early-adopting countries, and our longest-run estimates rely on very few of them.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literature: lower consumption (Colchero et al., 2017; Teng et al., 2019) does not yet show up as a measurable health effect in our time window, and a similar multi-country study (Villani et al., 2024) finds the same thing.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DALYs and diabetes prevalence are modeled IHME estimates, not direct counts.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long-run data to detect a small effect.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reverse causality may be left (a pre-existing health trend).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treatment variable is binary: it cannot tell a 5% tax from a 20% tax.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GDP/education data cuts the sample from 3,840 to 2,226 country-years; we did not check if this drop is random.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DCF2"/>
            </a:solidFill>
            <a:prstDash val="solid"/>
          </a:ln>
          <a:effectLst>
            <a:outerShdw blurRad="76200" dist="25400" dir="5400000" algn="bl" rotWithShape="0">
              <a:srgbClr val="3D2461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apply to national excise taxes only, not duties, VAT, or local taxes.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treated countries, mostly small or medium-sized and middle-income.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relevance for large, high-income economies, since few of them adopted early.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Angrist, J. D., &amp; Pischke, J.-S. (2009). Mostly Harmless Econometrics: An Empiricist's Companion. Princeton University Press.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Callaway, B., &amp; Sant'Anna, P. H. C. (2021). Difference-in-Differences with multiple time periods. Journal of Econometrics, 225(2), 200-230.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Cobiac, L. J., et al. (2024). Impact of the UK soft drinks industry levy on health and health inequalities in children and adolescents in England. PLOS Medicine.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Colchero, M. A., Popkin, B. M., Rivera, J. A., &amp; Ng, S. W. (2017). In Mexico, evidence of sustained consumer response two years after implementing a sugar-sweetened beverage tax. Health Affairs, 36(3), 564-571.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Goodman-Bacon, A. (2021). Difference-in-differences with variation in treatment timing. Journal of Econometrics, 225(2), 254-277.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Mozaffarian, D., et al. (2026), on behalf of the Global Dietary Database. Understanding SSB tax implementation globally: a 34-year study in 183 countries. The Lancet Global Health, 14(6).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Stacey, N., et al. (2021). Changes in beverage purchases following South Africa's Health Promotion Levy: an observational study. The Lancet Planetary Health.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Teng, A. M., Jones, A. C., Mizdrak, A., Signal, L., Genç, M., &amp; Wilson, N. (2019). Impact of SSB taxes on purchases and dietary intake: Systematic review and meta-analysis. Obesity Reviews, 20(9), 1187-1204.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Villani, L., Sassano, M., et al. (2024). National taxation on SSBs and its association with overweight, obesity, and diabetes. American Journal of Clinical Nutrition.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2147</Words>
  <Application>Microsoft Office PowerPoint</Application>
  <PresentationFormat>Widescreen</PresentationFormat>
  <Paragraphs>242</Paragraphs>
  <Slides>20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SSB_tax_health_presentation</dc:title>
  <dc:subject>SSB_tax_health_presentation</dc:subject>
  <dc:creator>Morgana Tavella</dc:creator>
  <cp:lastModifiedBy>Morgana Tavella</cp:lastModifiedBy>
  <cp:revision>8</cp:revision>
  <dcterms:created xsi:type="dcterms:W3CDTF">2026-08-22T12:50:36Z</dcterms:created>
  <dcterms:modified xsi:type="dcterms:W3CDTF">2026-08-26T14:22:40Z</dcterms:modified>
</cp:coreProperties>
</file>